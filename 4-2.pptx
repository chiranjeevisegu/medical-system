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86" r:id="rId8"/>
    <p:sldId id="283" r:id="rId9"/>
    <p:sldId id="279" r:id="rId10"/>
    <p:sldId id="280" r:id="rId11"/>
    <p:sldId id="284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78" r:id="rId2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DA2198-9F07-45A5-B90D-996F218CA1A1}" v="34" dt="2026-02-27T07:36:07.06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7" y="91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62550" y="2257425"/>
            <a:ext cx="2781300" cy="628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76095" y="346455"/>
            <a:ext cx="5591809" cy="543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1462" y="1177353"/>
            <a:ext cx="8444865" cy="3166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F233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0225" y="1143000"/>
            <a:ext cx="2305050" cy="27527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0453" y="2359913"/>
            <a:ext cx="2992755" cy="776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Final</a:t>
            </a:r>
            <a:r>
              <a:rPr sz="18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Year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Proposal</a:t>
            </a:r>
            <a:endParaRPr sz="1800" dirty="0">
              <a:latin typeface="Arial"/>
              <a:cs typeface="Arial"/>
            </a:endParaRPr>
          </a:p>
          <a:p>
            <a:pPr marL="12700" marR="1363345">
              <a:lnSpc>
                <a:spcPts val="1430"/>
              </a:lnSpc>
              <a:spcBef>
                <a:spcPts val="935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Academic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year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26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Batch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A1</a:t>
            </a:r>
            <a:r>
              <a:rPr lang="en-IN" sz="1200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0903" y="1263268"/>
            <a:ext cx="1553210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/>
              <a:t>Project</a:t>
            </a:r>
            <a:r>
              <a:rPr sz="1850" spc="105"/>
              <a:t> </a:t>
            </a:r>
            <a:r>
              <a:rPr sz="1850"/>
              <a:t>Title</a:t>
            </a:r>
            <a:r>
              <a:rPr sz="1850" spc="150"/>
              <a:t> </a:t>
            </a:r>
            <a:r>
              <a:rPr sz="1850" spc="-50"/>
              <a:t>:</a:t>
            </a:r>
            <a:endParaRPr sz="1850"/>
          </a:p>
        </p:txBody>
      </p:sp>
      <p:sp>
        <p:nvSpPr>
          <p:cNvPr id="3" name="object 3"/>
          <p:cNvSpPr txBox="1"/>
          <p:nvPr/>
        </p:nvSpPr>
        <p:spPr>
          <a:xfrm>
            <a:off x="769302" y="1817306"/>
            <a:ext cx="7872095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600" b="1" dirty="0"/>
              <a:t>An Explainable Multi-Agent Framework for Patient-Centric Medical Report Understanding and Recommendation</a:t>
            </a:r>
            <a:endParaRPr sz="1700" b="1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943076"/>
              </p:ext>
            </p:extLst>
          </p:nvPr>
        </p:nvGraphicFramePr>
        <p:xfrm>
          <a:off x="779830" y="2327211"/>
          <a:ext cx="4764404" cy="1583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7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400" b="1">
                          <a:latin typeface="Arial"/>
                          <a:cs typeface="Arial"/>
                        </a:rPr>
                        <a:t>Team</a:t>
                      </a:r>
                      <a:r>
                        <a:rPr sz="1400" b="1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>
                          <a:latin typeface="Arial"/>
                          <a:cs typeface="Arial"/>
                        </a:rPr>
                        <a:t>Members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400" b="1">
                          <a:latin typeface="Arial"/>
                          <a:cs typeface="Arial"/>
                        </a:rPr>
                        <a:t>Roll</a:t>
                      </a:r>
                      <a:r>
                        <a:rPr sz="1400" b="1" spc="-45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>
                          <a:latin typeface="Arial"/>
                          <a:cs typeface="Arial"/>
                        </a:rPr>
                        <a:t>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dirty="0" err="1">
                          <a:latin typeface="Arial"/>
                          <a:cs typeface="Arial"/>
                        </a:rPr>
                        <a:t>Ch.Venkata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Lakshmi</a:t>
                      </a:r>
                      <a:r>
                        <a:rPr sz="14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Vardhan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AV.EN.U4AIE22006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Venkata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Chiranjeevi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Segu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400" spc="-10">
                          <a:latin typeface="Arial"/>
                          <a:cs typeface="Arial"/>
                        </a:rPr>
                        <a:t>AV.EN.U4AIE22036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spc="-10" dirty="0" err="1">
                          <a:latin typeface="Arial"/>
                          <a:cs typeface="Arial"/>
                        </a:rPr>
                        <a:t>A.</a:t>
                      </a:r>
                      <a:r>
                        <a:rPr lang="en-US" sz="1400" spc="-10" dirty="0" err="1">
                          <a:latin typeface="Arial"/>
                          <a:cs typeface="Arial"/>
                        </a:rPr>
                        <a:t>Venkata</a:t>
                      </a:r>
                      <a:r>
                        <a:rPr lang="en-US" sz="1400" spc="-10" dirty="0">
                          <a:latin typeface="Arial"/>
                          <a:cs typeface="Arial"/>
                        </a:rPr>
                        <a:t> Sai </a:t>
                      </a:r>
                      <a:r>
                        <a:rPr lang="en-US" sz="1400" spc="-10" dirty="0" err="1">
                          <a:latin typeface="Arial"/>
                          <a:cs typeface="Arial"/>
                        </a:rPr>
                        <a:t>Harshendra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AV.EN.U4AIE22059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67410" y="4137659"/>
            <a:ext cx="37915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Team</a:t>
            </a:r>
            <a:r>
              <a:rPr sz="1400" b="1" u="sng" spc="-15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Mentor</a:t>
            </a:r>
            <a:r>
              <a:rPr sz="1400" b="1" u="none" spc="-3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b="1" u="none">
                <a:solidFill>
                  <a:srgbClr val="585858"/>
                </a:solidFill>
                <a:latin typeface="Arial"/>
                <a:cs typeface="Arial"/>
              </a:rPr>
              <a:t>:</a:t>
            </a:r>
            <a:r>
              <a:rPr sz="1400" b="1" u="none" spc="-6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b="1" u="sng" spc="30"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 </a:t>
            </a:r>
            <a:r>
              <a:rPr sz="1400" b="1" u="none">
                <a:latin typeface="Arial"/>
                <a:cs typeface="Arial"/>
              </a:rPr>
              <a:t>Dr.</a:t>
            </a:r>
            <a:r>
              <a:rPr sz="1400" b="1" u="none" spc="-25">
                <a:latin typeface="Arial"/>
                <a:cs typeface="Arial"/>
              </a:rPr>
              <a:t> </a:t>
            </a:r>
            <a:r>
              <a:rPr sz="1400" b="1" u="none">
                <a:latin typeface="Arial"/>
                <a:cs typeface="Arial"/>
              </a:rPr>
              <a:t>Sathya</a:t>
            </a:r>
            <a:r>
              <a:rPr sz="1400" b="1" u="none" spc="-65">
                <a:latin typeface="Arial"/>
                <a:cs typeface="Arial"/>
              </a:rPr>
              <a:t> </a:t>
            </a:r>
            <a:r>
              <a:rPr sz="1400" b="1" u="none">
                <a:latin typeface="Arial"/>
                <a:cs typeface="Arial"/>
              </a:rPr>
              <a:t>Rajendra</a:t>
            </a:r>
            <a:r>
              <a:rPr sz="1400" b="1" u="none" spc="-60">
                <a:latin typeface="Arial"/>
                <a:cs typeface="Arial"/>
              </a:rPr>
              <a:t> </a:t>
            </a:r>
            <a:r>
              <a:rPr sz="1400" b="1" u="none">
                <a:latin typeface="Arial"/>
                <a:cs typeface="Arial"/>
              </a:rPr>
              <a:t>Singh</a:t>
            </a:r>
            <a:r>
              <a:rPr sz="1400" b="1" u="none" spc="15">
                <a:latin typeface="Arial"/>
                <a:cs typeface="Arial"/>
              </a:rPr>
              <a:t> </a:t>
            </a:r>
            <a:r>
              <a:rPr sz="1400" b="1" u="none" spc="-25">
                <a:latin typeface="Arial"/>
                <a:cs typeface="Arial"/>
              </a:rPr>
              <a:t>.R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4374" y="426177"/>
            <a:ext cx="7480850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972310" algn="l">
              <a:lnSpc>
                <a:spcPct val="100000"/>
              </a:lnSpc>
              <a:spcBef>
                <a:spcPts val="125"/>
              </a:spcBef>
            </a:pPr>
            <a:r>
              <a:rPr lang="en-IN" u="none" spc="-10" dirty="0"/>
              <a:t>About Our Previous Project &amp; Paper</a:t>
            </a:r>
            <a:endParaRPr u="none"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117786EE-534A-C164-C261-8A0238AD9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0524" y="821890"/>
            <a:ext cx="8339137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Paper Title:</a:t>
            </a:r>
            <a:br>
              <a:rPr lang="en-US" sz="1400" dirty="0"/>
            </a:br>
            <a:r>
              <a:rPr lang="en-US" sz="1400" dirty="0"/>
              <a:t>Multi-Modal Few-Shot Anomaly Detection in Medical Imaging using Meta-Learning and Vision-Language Models</a:t>
            </a:r>
          </a:p>
          <a:p>
            <a:endParaRPr lang="en-US" sz="1400" dirty="0"/>
          </a:p>
          <a:p>
            <a:r>
              <a:rPr lang="en-US" sz="1400" b="1" dirty="0"/>
              <a:t>Conference:</a:t>
            </a:r>
            <a:br>
              <a:rPr lang="en-US" sz="1400" dirty="0"/>
            </a:br>
            <a:r>
              <a:rPr lang="en-US" sz="1400" dirty="0"/>
              <a:t>1st International Conference on Advanced Trends in Engineering and Emerging Technologies (ICATEET-2026)</a:t>
            </a:r>
          </a:p>
          <a:p>
            <a:endParaRPr lang="en-US" sz="1400" dirty="0"/>
          </a:p>
          <a:p>
            <a:r>
              <a:rPr lang="en-US" sz="1400" b="1" dirty="0"/>
              <a:t>Submission Status:</a:t>
            </a:r>
            <a:endParaRPr lang="en-US" sz="1400" dirty="0"/>
          </a:p>
          <a:p>
            <a:r>
              <a:rPr lang="en-US" sz="1400" dirty="0"/>
              <a:t>Article submitted during </a:t>
            </a:r>
            <a:r>
              <a:rPr lang="en-US" sz="1400" b="1" dirty="0"/>
              <a:t>previous academic semester</a:t>
            </a:r>
            <a:endParaRPr lang="en-US" sz="1400" dirty="0"/>
          </a:p>
          <a:p>
            <a:r>
              <a:rPr lang="en-US" sz="1400" dirty="0"/>
              <a:t>Underwent peer-review process</a:t>
            </a:r>
          </a:p>
          <a:p>
            <a:r>
              <a:rPr lang="en-US" sz="1400" b="1" dirty="0"/>
              <a:t>Accepted for presentation and We have gave presentation also &amp; Currently waiting for Approval.</a:t>
            </a:r>
          </a:p>
          <a:p>
            <a:endParaRPr lang="en-US" sz="1400" dirty="0"/>
          </a:p>
          <a:p>
            <a:r>
              <a:rPr lang="en-US" sz="1400" b="1" dirty="0"/>
              <a:t>Evidence Provided:</a:t>
            </a:r>
            <a:endParaRPr lang="en-US" sz="1400" dirty="0"/>
          </a:p>
          <a:p>
            <a:r>
              <a:rPr lang="en-US" sz="1400" dirty="0"/>
              <a:t>Official confirmation email from conference organizers(In below Page)</a:t>
            </a:r>
          </a:p>
          <a:p>
            <a:r>
              <a:rPr lang="en-US" sz="1400" dirty="0"/>
              <a:t>Paper ID (AI-041)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4106-7E81-E8AD-03FC-156DE11B4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2A5700-01A1-450A-0E98-DD023BD8C4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374" y="426177"/>
            <a:ext cx="7480850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972310" algn="l">
              <a:lnSpc>
                <a:spcPct val="100000"/>
              </a:lnSpc>
              <a:spcBef>
                <a:spcPts val="125"/>
              </a:spcBef>
            </a:pPr>
            <a:r>
              <a:rPr lang="en-IN" u="none" spc="-10" dirty="0"/>
              <a:t>About Our Previous Project &amp; Paper</a:t>
            </a:r>
            <a:endParaRPr u="none"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43075BA-FCFE-226C-463F-EE7A283E1D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0C116F-46B5-C5D9-2E95-9416E379F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9" y="889414"/>
            <a:ext cx="7959436" cy="3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0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28B3-0190-9479-D524-94E0F3AC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49781B-53CE-5C92-7AEF-547BE4F4D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556982"/>
            <a:ext cx="5591809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972310">
              <a:lnSpc>
                <a:spcPct val="100000"/>
              </a:lnSpc>
              <a:spcBef>
                <a:spcPts val="125"/>
              </a:spcBef>
            </a:pPr>
            <a:r>
              <a:rPr lang="en-IN" u="none"/>
              <a:t>The Problem &amp; Our Solution</a:t>
            </a:r>
            <a:endParaRPr u="none" spc="-1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8179A39-CFAE-4A2D-EAB8-23FDA8CD04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715E019-E58A-BC62-92C5-E31819B697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0524" y="1791385"/>
            <a:ext cx="833913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dirty="0"/>
              <a:t>Patients receive medical reports that are difficult to understand due to complex terminology and lack of clear, patient-focused explanations.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Goal: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dirty="0"/>
              <a:t>To enable patients to understand their medical reports clearly and safely before consulting a healthcare professional.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Solution: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dirty="0"/>
              <a:t>An explainable </a:t>
            </a:r>
            <a:r>
              <a:rPr lang="en-US" sz="1400" b="1" dirty="0"/>
              <a:t>multi-agent AI system </a:t>
            </a:r>
            <a:r>
              <a:rPr lang="en-US" sz="1400" dirty="0"/>
              <a:t>that analyzes real medical reports and provides patient-centric disease explanations with justified, non-diagnostic recommendations.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367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B051-E707-06CB-8E4C-B7CF8F2C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5BCF02-0030-97AB-F751-AFC430F8C2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6291" y="9525"/>
            <a:ext cx="5591809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972310">
              <a:lnSpc>
                <a:spcPct val="100000"/>
              </a:lnSpc>
              <a:spcBef>
                <a:spcPts val="125"/>
              </a:spcBef>
            </a:pPr>
            <a:r>
              <a:rPr lang="en-IN" u="none" spc="-10" dirty="0"/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1FC2166-015F-6ABD-D5C9-3A50910A53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C3AC961A-161E-01F5-4F65-C7DBD6E782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6097" y="765662"/>
            <a:ext cx="8678573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reports are primarily written for clinicians and often contain complex terminology that limits patient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AI approaches mainly focus on summarization and do not guarantee meaningful patient comprehension.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/>
              <a:t>Summarization ≠ Understanding</a:t>
            </a:r>
            <a:br>
              <a:rPr lang="en-US" sz="1600" dirty="0"/>
            </a:br>
            <a:r>
              <a:rPr lang="en-US" sz="1600" dirty="0"/>
              <a:t>There is no system that explicitly models </a:t>
            </a:r>
            <a:r>
              <a:rPr lang="en-US" sz="1600" i="1" dirty="0"/>
              <a:t>disease explanation</a:t>
            </a:r>
            <a:r>
              <a:rPr lang="en-US" sz="1600" dirty="0"/>
              <a:t> and </a:t>
            </a:r>
            <a:r>
              <a:rPr lang="en-US" sz="1600" i="1" dirty="0"/>
              <a:t>patient-safe recommendations</a:t>
            </a:r>
            <a:r>
              <a:rPr lang="en-US" sz="1600" dirty="0"/>
              <a:t> using a structured, explainable, and verifiable AI framework.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Single-model systems lack transparency and fail to separate explanation, reasoning, and recommendation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Patient-centric healthcare requires interpretable, safe, and trustworthy AI systems that support—not replace—doctors.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proposes an explainable multi-agent AI framework to transform medical reports into clear disease explanations and justified recommendations for patients.</a:t>
            </a:r>
          </a:p>
        </p:txBody>
      </p:sp>
    </p:spTree>
    <p:extLst>
      <p:ext uri="{BB962C8B-B14F-4D97-AF65-F5344CB8AC3E}">
        <p14:creationId xmlns:p14="http://schemas.microsoft.com/office/powerpoint/2010/main" val="263678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09885-DC04-0BFE-EB58-0C22002A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BEB970-421C-185F-F42E-74A135F10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6095" y="123380"/>
            <a:ext cx="5591809" cy="581185"/>
          </a:xfrm>
          <a:prstGeom prst="rect">
            <a:avLst/>
          </a:prstGeom>
        </p:spPr>
        <p:txBody>
          <a:bodyPr vert="horz" wrap="square" lIns="0" tIns="270764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30"/>
              </a:spcBef>
            </a:pPr>
            <a:r>
              <a:rPr lang="en-IN" sz="2000" u="none" spc="-2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</a:rPr>
              <a:t>Datasets</a:t>
            </a:r>
            <a:endParaRPr sz="2000" u="none" spc="-20" dirty="0">
              <a:solidFill>
                <a:srgbClr val="1B1C1D"/>
              </a:solidFill>
              <a:uFill>
                <a:solidFill>
                  <a:srgbClr val="1B1C1D"/>
                </a:solidFill>
              </a:u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60C5F28-3A81-15A8-3E83-69FB5723AA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4E51F9-8FE1-9D32-6C3C-1DA7674A6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556239"/>
              </p:ext>
            </p:extLst>
          </p:nvPr>
        </p:nvGraphicFramePr>
        <p:xfrm>
          <a:off x="342898" y="1449344"/>
          <a:ext cx="8458201" cy="12496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54136285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982164496"/>
                    </a:ext>
                  </a:extLst>
                </a:gridCol>
                <a:gridCol w="3276601">
                  <a:extLst>
                    <a:ext uri="{9D8B030D-6E8A-4147-A177-3AD203B41FA5}">
                      <a16:colId xmlns:a16="http://schemas.microsoft.com/office/drawing/2014/main" val="3123022364"/>
                    </a:ext>
                  </a:extLst>
                </a:gridCol>
              </a:tblGrid>
              <a:tr h="294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Dataset</a:t>
                      </a:r>
                      <a:endParaRPr lang="en-IN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Modality / Content</a:t>
                      </a:r>
                      <a:endParaRPr lang="en-IN" sz="1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Purpose in Project</a:t>
                      </a:r>
                      <a:endParaRPr lang="en-IN" sz="1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1542324"/>
                  </a:ext>
                </a:extLst>
              </a:tr>
              <a:tr h="515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MIMIC-III (public, de-identified clinical dataset from PhysioNet).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Textual clinical data, primarily discharge summaries and related medical notes.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• Used as real-world input to evaluate the system’s ability to explain medical reports and generate safe, justified recommendations for patients.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1255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F820133-3735-7993-70FA-E555708901CD}"/>
              </a:ext>
            </a:extLst>
          </p:cNvPr>
          <p:cNvSpPr txBox="1"/>
          <p:nvPr/>
        </p:nvSpPr>
        <p:spPr>
          <a:xfrm>
            <a:off x="714374" y="2918460"/>
            <a:ext cx="5846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MIMIC-III Discharge Summaries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 real cases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ICD diagnosis context integrated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049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6070-59EE-B975-A103-7F03FC28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74C916-8537-D35C-377B-65F615B160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556982"/>
            <a:ext cx="5591809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US" u="none" dirty="0"/>
              <a:t>Key Novel Contributions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93FB030-CA2D-FBAE-898E-C1274C3B56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9808D63E-9774-F20E-BC10-87C7C9145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0524" y="1652887"/>
            <a:ext cx="833913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600" dirty="0"/>
              <a:t>Disease explanation as a first-class output, not an afterthought</a:t>
            </a:r>
          </a:p>
          <a:p>
            <a:pPr fontAlgn="base"/>
            <a:endParaRPr lang="en-US" sz="1600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600" dirty="0"/>
              <a:t>Separation of explanation and recommendation reasoning</a:t>
            </a:r>
          </a:p>
          <a:p>
            <a:pPr fontAlgn="base"/>
            <a:endParaRPr lang="en-US" sz="1600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600" dirty="0"/>
              <a:t>Justification and limitation-aware recommendations</a:t>
            </a:r>
          </a:p>
          <a:p>
            <a:pPr fontAlgn="base"/>
            <a:endParaRPr lang="en-US" sz="1600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600" dirty="0"/>
              <a:t>Ethical, dataset-driven deployment using real clinical data</a:t>
            </a:r>
            <a:br>
              <a:rPr lang="en-US" sz="1800" dirty="0"/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566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B7155-AC24-029E-4B15-C12B00B9A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FFEE85-B846-4052-D00D-3599E28409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556982"/>
            <a:ext cx="5591809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IN" u="none" dirty="0"/>
              <a:t>Proposed Solution</a:t>
            </a:r>
            <a:endParaRPr lang="en-US" u="none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BC187D1-71EB-47AD-9837-29D44783AD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267D3C5-5758-D5A3-EE2B-7C57B8263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4824" y="1784065"/>
            <a:ext cx="833913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Hybrid Multi-Agent System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Clinical grounding (</a:t>
            </a:r>
            <a:r>
              <a:rPr lang="en-US" sz="1800" dirty="0" err="1"/>
              <a:t>BioClinicalBERT</a:t>
            </a:r>
            <a:r>
              <a:rPr lang="en-US" sz="1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Structured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Instruction-controlled reasoning (FLAN-T5)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Safety verification layer</a:t>
            </a:r>
            <a:br>
              <a:rPr lang="en-US" sz="1800" dirty="0"/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673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18CE1-CB57-33BD-C886-A5CAEC67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40" y="97073"/>
            <a:ext cx="5591809" cy="369332"/>
          </a:xfrm>
        </p:spPr>
        <p:txBody>
          <a:bodyPr/>
          <a:lstStyle/>
          <a:p>
            <a:r>
              <a:rPr lang="en-US" sz="2400" u="none" dirty="0"/>
              <a:t>Architecture Diagram</a:t>
            </a:r>
            <a:endParaRPr lang="en-IN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EC0943-4FEF-99D7-CCC3-A338DD1BE2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545" y="97073"/>
            <a:ext cx="4897583" cy="47813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FE32FB-5365-72B2-03FD-CD4A2977D7A7}"/>
              </a:ext>
            </a:extLst>
          </p:cNvPr>
          <p:cNvSpPr txBox="1"/>
          <p:nvPr/>
        </p:nvSpPr>
        <p:spPr>
          <a:xfrm>
            <a:off x="85840" y="556260"/>
            <a:ext cx="32136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Raw Report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err="1"/>
              <a:t>BioClinicalBERT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Classification Head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Risk Agent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Explainability Agent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Recommendation Agent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Justification Agent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Verification Agent</a:t>
            </a:r>
          </a:p>
        </p:txBody>
      </p:sp>
    </p:spTree>
    <p:extLst>
      <p:ext uri="{BB962C8B-B14F-4D97-AF65-F5344CB8AC3E}">
        <p14:creationId xmlns:p14="http://schemas.microsoft.com/office/powerpoint/2010/main" val="1140607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1518-8EAF-FA7A-3386-AE7DC96E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F9529E-369E-0713-6F5D-D007102CC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5340" y="0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US" sz="2400" u="none" dirty="0"/>
              <a:t>Process Flow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F1DFB9D-C03F-0DA5-922C-43DB664891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98B479C2-97B8-B997-C658-66449B084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3851" y="863590"/>
            <a:ext cx="833913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Clinical Classification Layer (</a:t>
            </a:r>
            <a:r>
              <a:rPr lang="en-IN" sz="1800" b="1" dirty="0" err="1"/>
              <a:t>BioClinicalBERT</a:t>
            </a:r>
            <a:r>
              <a:rPr lang="en-IN" sz="1800" b="1" dirty="0"/>
              <a:t>)</a:t>
            </a:r>
          </a:p>
          <a:p>
            <a:endParaRPr lang="en-IN" sz="1800" b="1" dirty="0"/>
          </a:p>
          <a:p>
            <a:r>
              <a:rPr lang="en-IN" sz="1800" b="1" dirty="0"/>
              <a:t>Model:</a:t>
            </a:r>
            <a:r>
              <a:rPr lang="en-IN" sz="1800" dirty="0"/>
              <a:t> </a:t>
            </a:r>
            <a:r>
              <a:rPr lang="en-IN" sz="1800" dirty="0" err="1"/>
              <a:t>BioClinicalBERT</a:t>
            </a:r>
            <a:r>
              <a:rPr lang="en-IN" sz="1800" dirty="0"/>
              <a:t> (MIMIC-III trained)</a:t>
            </a:r>
          </a:p>
          <a:p>
            <a:r>
              <a:rPr lang="en-IN" sz="1800" b="1" dirty="0"/>
              <a:t>Process:</a:t>
            </a:r>
          </a:p>
          <a:p>
            <a:r>
              <a:rPr lang="en-IN" sz="1800" dirty="0"/>
              <a:t>Discharge Summary → Tokenization</a:t>
            </a:r>
          </a:p>
          <a:p>
            <a:r>
              <a:rPr lang="en-IN" sz="1800" dirty="0"/>
              <a:t>CLS embedding extraction (768-dim representation)</a:t>
            </a:r>
          </a:p>
          <a:p>
            <a:r>
              <a:rPr lang="en-IN" sz="1800" dirty="0"/>
              <a:t>Linear Classification Head</a:t>
            </a:r>
          </a:p>
          <a:p>
            <a:r>
              <a:rPr lang="en-IN" sz="1800" dirty="0" err="1"/>
              <a:t>Softmax</a:t>
            </a:r>
            <a:r>
              <a:rPr lang="en-IN" sz="1800" dirty="0"/>
              <a:t> Output → Disease Category</a:t>
            </a:r>
          </a:p>
          <a:p>
            <a:r>
              <a:rPr lang="en-IN" sz="1800" b="1" dirty="0"/>
              <a:t>Categories:</a:t>
            </a:r>
          </a:p>
          <a:p>
            <a:r>
              <a:rPr lang="en-IN" sz="1800" dirty="0"/>
              <a:t>Cardiovascular, Respiratory, Endocrine, Infectious, Neurological</a:t>
            </a:r>
          </a:p>
          <a:p>
            <a:r>
              <a:rPr lang="en-IN" sz="1800" b="1" dirty="0"/>
              <a:t>Purpose:</a:t>
            </a:r>
            <a:br>
              <a:rPr lang="en-IN" sz="1800" dirty="0"/>
            </a:br>
            <a:r>
              <a:rPr lang="en-IN" sz="1800" dirty="0"/>
              <a:t>Convert unstructured clinical text into structured disease signals.</a:t>
            </a:r>
          </a:p>
        </p:txBody>
      </p:sp>
    </p:spTree>
    <p:extLst>
      <p:ext uri="{BB962C8B-B14F-4D97-AF65-F5344CB8AC3E}">
        <p14:creationId xmlns:p14="http://schemas.microsoft.com/office/powerpoint/2010/main" val="255704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1E2F-5C42-6435-8DC3-288B4B193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1A128C-87F5-6916-D1CF-24F3D5809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5340" y="0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US" sz="2400" u="none" dirty="0"/>
              <a:t>Process Flow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7AACE3C-8B2F-059D-2075-70D45B5B1F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3D2F464-FEAA-BDCD-9458-4A3A7BBA9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3851" y="1002089"/>
            <a:ext cx="833913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Multi-Agent Reasoning Layer (FLAN-T5)</a:t>
            </a:r>
          </a:p>
          <a:p>
            <a:r>
              <a:rPr lang="en-IN" sz="1800" b="1" dirty="0"/>
              <a:t>Risk Agent</a:t>
            </a:r>
          </a:p>
          <a:p>
            <a:r>
              <a:rPr lang="en-IN" sz="1800" dirty="0"/>
              <a:t>Assigns Low / Medium / High risk with structured reasoning.</a:t>
            </a:r>
          </a:p>
          <a:p>
            <a:r>
              <a:rPr lang="en-IN" sz="1800" b="1" dirty="0"/>
              <a:t>Explainability Agent</a:t>
            </a:r>
          </a:p>
          <a:p>
            <a:r>
              <a:rPr lang="en-IN" sz="1800" dirty="0"/>
              <a:t>Translates clinical findings into simple patient-friendly language.</a:t>
            </a:r>
          </a:p>
          <a:p>
            <a:r>
              <a:rPr lang="en-IN" sz="1800" b="1" dirty="0"/>
              <a:t>Recommendation Agent</a:t>
            </a:r>
          </a:p>
          <a:p>
            <a:r>
              <a:rPr lang="en-IN" sz="1800" dirty="0"/>
              <a:t>Generates safe, non-diagnostic next steps.</a:t>
            </a:r>
          </a:p>
          <a:p>
            <a:r>
              <a:rPr lang="en-IN" sz="1800" b="1" dirty="0"/>
              <a:t>Justification Agent</a:t>
            </a:r>
          </a:p>
          <a:p>
            <a:r>
              <a:rPr lang="en-IN" sz="1800" dirty="0"/>
              <a:t>Explains rationale + confidence + limitations.</a:t>
            </a:r>
          </a:p>
          <a:p>
            <a:r>
              <a:rPr lang="en-IN" sz="1800" b="1" dirty="0"/>
              <a:t>Verification Agent</a:t>
            </a:r>
          </a:p>
          <a:p>
            <a:r>
              <a:rPr lang="en-IN" sz="1800" dirty="0"/>
              <a:t>Detects contradictions and unsafe outputs.</a:t>
            </a:r>
          </a:p>
        </p:txBody>
      </p:sp>
    </p:spTree>
    <p:extLst>
      <p:ext uri="{BB962C8B-B14F-4D97-AF65-F5344CB8AC3E}">
        <p14:creationId xmlns:p14="http://schemas.microsoft.com/office/powerpoint/2010/main" val="158076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6C36B-E758-6661-68EE-5B987E19B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429BC1-89CB-8D1D-4DCA-45BD631D4A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5340" y="0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US" sz="2400" u="none" dirty="0"/>
              <a:t>Metrics We Use: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6BF5621-E7C0-BB47-71B7-D21E44955C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81694A70-675A-1594-F426-947AA2D77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1451" y="1082753"/>
            <a:ext cx="833913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Clinical Classification Performance</a:t>
            </a:r>
            <a:r>
              <a:rPr lang="en-IN" sz="1800" dirty="0"/>
              <a:t>(Model: </a:t>
            </a:r>
            <a:r>
              <a:rPr lang="en-IN" sz="1800" dirty="0" err="1"/>
              <a:t>BioClinicalBERT</a:t>
            </a:r>
            <a:r>
              <a:rPr lang="en-IN" sz="1800" dirty="0"/>
              <a:t> + Linear Head):</a:t>
            </a:r>
          </a:p>
          <a:p>
            <a:r>
              <a:rPr lang="en-US" sz="1800" dirty="0"/>
              <a:t>Precision, Recall, F1 Score</a:t>
            </a:r>
          </a:p>
          <a:p>
            <a:r>
              <a:rPr lang="en-US" sz="1800" b="1" dirty="0"/>
              <a:t>Purpose</a:t>
            </a:r>
            <a:r>
              <a:rPr lang="en-US" sz="1800" dirty="0"/>
              <a:t>: Measures disease category prediction accuracy.</a:t>
            </a:r>
          </a:p>
          <a:p>
            <a:endParaRPr lang="en-IN" sz="1800" dirty="0"/>
          </a:p>
          <a:p>
            <a:r>
              <a:rPr lang="en-IN" sz="1800" b="1" dirty="0"/>
              <a:t>Readability &amp; Summarization Quality</a:t>
            </a:r>
          </a:p>
          <a:p>
            <a:r>
              <a:rPr lang="en-IN" sz="1800" b="1" dirty="0"/>
              <a:t>Original FKGL, Agent FKGL, Length Reduction</a:t>
            </a:r>
          </a:p>
          <a:p>
            <a:r>
              <a:rPr lang="en-US" sz="1800" b="1" dirty="0"/>
              <a:t>Purpose: </a:t>
            </a:r>
            <a:r>
              <a:rPr lang="en-IN" sz="1800" dirty="0"/>
              <a:t>Shows improved patient readability without excessive compression.</a:t>
            </a:r>
          </a:p>
          <a:p>
            <a:br>
              <a:rPr lang="en-IN" sz="1800" dirty="0"/>
            </a:br>
            <a:r>
              <a:rPr lang="en-IN" sz="1800" b="1" dirty="0"/>
              <a:t> Information Preservation</a:t>
            </a:r>
          </a:p>
          <a:p>
            <a:r>
              <a:rPr lang="en-IN" sz="1800" b="1" dirty="0"/>
              <a:t>QA-Based Accuracy, Information Coverage</a:t>
            </a:r>
          </a:p>
          <a:p>
            <a:r>
              <a:rPr lang="en-US" sz="1800" b="1" dirty="0"/>
              <a:t>Purpose :</a:t>
            </a:r>
            <a:r>
              <a:rPr lang="en-IN" sz="1800" dirty="0"/>
              <a:t>Demonstrates preservation of key diagnoses and findings compared to baseline single-prompt system.</a:t>
            </a:r>
          </a:p>
          <a:p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767133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11172-902E-22BF-FB14-59C1587E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B0A0FA-B635-5328-6B23-73A4E66F24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4080" y="117358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r>
              <a:rPr lang="en-US" sz="2400" u="none" dirty="0"/>
              <a:t>Key Contributions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62009A9-6BA8-84D6-075C-475CFB5B35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E5DFECA9-C0ED-3FEF-9B14-25764027C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3831" y="1360169"/>
            <a:ext cx="833913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Hybrid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Domain-grounded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Multi-agent safety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Quantitative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Reproducible pipeline</a:t>
            </a:r>
          </a:p>
        </p:txBody>
      </p:sp>
    </p:spTree>
    <p:extLst>
      <p:ext uri="{BB962C8B-B14F-4D97-AF65-F5344CB8AC3E}">
        <p14:creationId xmlns:p14="http://schemas.microsoft.com/office/powerpoint/2010/main" val="1489157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242A5-D4B3-C407-836B-BB845130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2016B9-89E4-49B8-2477-3BB5DECE78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4080" y="117358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r>
              <a:rPr lang="en-US" sz="2400" u="none" dirty="0"/>
              <a:t>Conclusion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327C58D-4DDC-EA09-351E-5C36570EDEF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2E99598-8A6B-B894-379C-830C571078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6691" y="936635"/>
            <a:ext cx="833913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Developed a </a:t>
            </a:r>
            <a:r>
              <a:rPr lang="en-US" sz="1800" b="1" dirty="0"/>
              <a:t>hybrid clinical–reasoning architecture</a:t>
            </a:r>
            <a:r>
              <a:rPr lang="en-US" sz="1800" dirty="0"/>
              <a:t> combining </a:t>
            </a:r>
            <a:r>
              <a:rPr lang="en-US" sz="1800" dirty="0" err="1"/>
              <a:t>BioClinicalBERT</a:t>
            </a:r>
            <a:r>
              <a:rPr lang="en-US" sz="1800" dirty="0"/>
              <a:t> and FLAN-T5.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Achieved </a:t>
            </a:r>
            <a:r>
              <a:rPr lang="en-US" sz="1800" b="1" dirty="0"/>
              <a:t>improved readability</a:t>
            </a:r>
            <a:r>
              <a:rPr lang="en-US" sz="1800" dirty="0"/>
              <a:t> of medical reports while preserving essential clinical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Generated </a:t>
            </a:r>
            <a:r>
              <a:rPr lang="en-US" sz="1800" b="1" dirty="0"/>
              <a:t>patient-safe, non-diagnostic recommendations</a:t>
            </a:r>
            <a:r>
              <a:rPr lang="en-US" sz="1800" dirty="0"/>
              <a:t> through structured guardrails.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Demonstrated </a:t>
            </a:r>
            <a:r>
              <a:rPr lang="en-US" sz="1800" b="1" dirty="0"/>
              <a:t>measurable clinical classification performance</a:t>
            </a:r>
            <a:r>
              <a:rPr lang="en-US" sz="1800" dirty="0"/>
              <a:t> using supervised evaluation (Precision / Recall / F1).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Designed a </a:t>
            </a:r>
            <a:r>
              <a:rPr lang="en-US" sz="1800" b="1" dirty="0"/>
              <a:t>modular and interpretable multi-agent framework</a:t>
            </a:r>
            <a:r>
              <a:rPr lang="en-US" sz="1800" dirty="0"/>
              <a:t> enabling safety validation and component-level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system bridges the gap between </a:t>
            </a:r>
            <a:r>
              <a:rPr lang="en-US" sz="1800" b="1" dirty="0"/>
              <a:t>clinical language complexity and patient understanding</a:t>
            </a:r>
            <a:r>
              <a:rPr lang="en-US" sz="1800" dirty="0"/>
              <a:t>, while maintaining safety and quantitative validation.</a:t>
            </a:r>
          </a:p>
        </p:txBody>
      </p:sp>
    </p:spTree>
    <p:extLst>
      <p:ext uri="{BB962C8B-B14F-4D97-AF65-F5344CB8AC3E}">
        <p14:creationId xmlns:p14="http://schemas.microsoft.com/office/powerpoint/2010/main" val="3027802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745" y="1442085"/>
            <a:ext cx="24479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u="none"/>
              <a:t>THANK</a:t>
            </a:r>
            <a:r>
              <a:rPr sz="3200" u="none" spc="-110"/>
              <a:t> </a:t>
            </a:r>
            <a:r>
              <a:rPr sz="3200" u="none" spc="-25"/>
              <a:t>YOU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" y="0"/>
            <a:ext cx="533399" cy="638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a1826d0-a633-4e7b-b963-b980b997b5c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97AADBF1BA2548AAD0935313750DF7" ma:contentTypeVersion="10" ma:contentTypeDescription="Create a new document." ma:contentTypeScope="" ma:versionID="65feb42d6e9e9d44f6ed74e247022939">
  <xsd:schema xmlns:xsd="http://www.w3.org/2001/XMLSchema" xmlns:xs="http://www.w3.org/2001/XMLSchema" xmlns:p="http://schemas.microsoft.com/office/2006/metadata/properties" xmlns:ns3="3a1826d0-a633-4e7b-b963-b980b997b5c7" targetNamespace="http://schemas.microsoft.com/office/2006/metadata/properties" ma:root="true" ma:fieldsID="e4a88a26e4f238fafe385f09119dc6f4" ns3:_="">
    <xsd:import namespace="3a1826d0-a633-4e7b-b963-b980b997b5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1826d0-a633-4e7b-b963-b980b997b5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0B928A-FB19-4D06-A40D-5273C93107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AA159D-2779-4753-9258-BCB2FC37F8D1}">
  <ds:schemaRefs>
    <ds:schemaRef ds:uri="http://purl.org/dc/dcmitype/"/>
    <ds:schemaRef ds:uri="http://schemas.microsoft.com/office/2006/documentManagement/types"/>
    <ds:schemaRef ds:uri="http://purl.org/dc/elements/1.1/"/>
    <ds:schemaRef ds:uri="3a1826d0-a633-4e7b-b963-b980b997b5c7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369D8B8C-1D50-49D2-A472-CB6AA274BB15}">
  <ds:schemaRefs>
    <ds:schemaRef ds:uri="3a1826d0-a633-4e7b-b963-b980b997b5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794</Words>
  <Application>Microsoft Office PowerPoint</Application>
  <PresentationFormat>On-screen Show (16:9)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Project Title :</vt:lpstr>
      <vt:lpstr>About Our Previous Project &amp; Paper</vt:lpstr>
      <vt:lpstr>About Our Previous Project &amp; Paper</vt:lpstr>
      <vt:lpstr>The Problem &amp; Our Solution</vt:lpstr>
      <vt:lpstr>Introduction</vt:lpstr>
      <vt:lpstr>Datasets</vt:lpstr>
      <vt:lpstr>Key Novel Contributions</vt:lpstr>
      <vt:lpstr>Proposed Solution</vt:lpstr>
      <vt:lpstr>Architecture Diagram</vt:lpstr>
      <vt:lpstr>Process Flow</vt:lpstr>
      <vt:lpstr>Process Flow</vt:lpstr>
      <vt:lpstr>Metrics We Use:</vt:lpstr>
      <vt:lpstr>Key Contributions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Segu Venkata Chiranjeevi</dc:creator>
  <cp:lastModifiedBy>Segu Venkata Chiranjeevi [AV.EN.U4AIE22036]</cp:lastModifiedBy>
  <cp:revision>5</cp:revision>
  <dcterms:created xsi:type="dcterms:W3CDTF">2025-08-28T19:39:22Z</dcterms:created>
  <dcterms:modified xsi:type="dcterms:W3CDTF">2026-02-27T15:53:40Z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2025-07-25T00:00:00Z</vt:filetime>
  </property>
  <property fmtid="{D5CDD505-2E9C-101B-9397-08002B2CF9AE}" pid="3" name="LastSaved">
    <vt:filetime>2025-08-28T00:00:00Z</vt:filetime>
  </property>
  <property fmtid="{D5CDD505-2E9C-101B-9397-08002B2CF9AE}" pid="4" name="ContentTypeId">
    <vt:lpwstr>0x010100DE97AADBF1BA2548AAD0935313750DF7</vt:lpwstr>
  </property>
</Properties>
</file>