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86" r:id="rId8"/>
    <p:sldId id="283" r:id="rId9"/>
    <p:sldId id="279" r:id="rId10"/>
    <p:sldId id="280" r:id="rId11"/>
    <p:sldId id="296" r:id="rId12"/>
    <p:sldId id="298" r:id="rId13"/>
    <p:sldId id="294" r:id="rId14"/>
    <p:sldId id="295" r:id="rId15"/>
    <p:sldId id="284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7" r:id="rId24"/>
    <p:sldId id="278" r:id="rId2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68C9B-CBC4-E86F-D0DA-9421D65588A9}" v="18" dt="2026-02-27T19:49:57.443"/>
    <p1510:client id="{36E9960A-580A-D01B-2B76-14C763744F59}" v="73" dt="2026-02-27T20:15:26.547"/>
    <p1510:client id="{A791FC77-3C41-4C09-BA2B-D5EF0678547A}" v="33" dt="2026-02-27T16:32:43.6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7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2550" y="2257425"/>
            <a:ext cx="2781300" cy="628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6095" y="346455"/>
            <a:ext cx="5591809" cy="543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462" y="1177353"/>
            <a:ext cx="8444865" cy="3166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era1AFO4LZJbRnPwYR7FepaF9u69FSI0/view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1.naacl-main.371/" TargetMode="External"/><Relationship Id="rId3" Type="http://schemas.openxmlformats.org/officeDocument/2006/relationships/hyperlink" Target="https://aclanthology.org/2020.emnlp-main.449/" TargetMode="External"/><Relationship Id="rId7" Type="http://schemas.openxmlformats.org/officeDocument/2006/relationships/hyperlink" Target="https://pmc.ncbi.nlm.nih.gov/articles/PMC1236080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86-023-06291-2" TargetMode="External"/><Relationship Id="rId5" Type="http://schemas.openxmlformats.org/officeDocument/2006/relationships/hyperlink" Target="https://aclanthology.org/W19-1909/" TargetMode="External"/><Relationship Id="rId4" Type="http://schemas.openxmlformats.org/officeDocument/2006/relationships/hyperlink" Target="https://arxiv.org/abs/1904.05342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F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0225" y="1143000"/>
            <a:ext cx="2305050" cy="2752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0453" y="2359913"/>
            <a:ext cx="2992755" cy="77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Proposal</a:t>
            </a:r>
            <a:endParaRPr sz="1800" dirty="0">
              <a:latin typeface="Arial"/>
              <a:cs typeface="Arial"/>
            </a:endParaRPr>
          </a:p>
          <a:p>
            <a:pPr marL="12700" marR="1363345">
              <a:lnSpc>
                <a:spcPts val="1430"/>
              </a:lnSpc>
              <a:spcBef>
                <a:spcPts val="93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Academic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26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Batch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A1</a:t>
            </a:r>
            <a:r>
              <a:rPr lang="en-IN" sz="1200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0903" y="1263268"/>
            <a:ext cx="155321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/>
              <a:t>Project</a:t>
            </a:r>
            <a:r>
              <a:rPr sz="1850" spc="105"/>
              <a:t> </a:t>
            </a:r>
            <a:r>
              <a:rPr sz="1850"/>
              <a:t>Title</a:t>
            </a:r>
            <a:r>
              <a:rPr sz="1850" spc="150"/>
              <a:t> </a:t>
            </a:r>
            <a:r>
              <a:rPr sz="1850" spc="-50"/>
              <a:t>:</a:t>
            </a:r>
            <a:endParaRPr sz="1850"/>
          </a:p>
        </p:txBody>
      </p:sp>
      <p:sp>
        <p:nvSpPr>
          <p:cNvPr id="3" name="object 3"/>
          <p:cNvSpPr txBox="1"/>
          <p:nvPr/>
        </p:nvSpPr>
        <p:spPr>
          <a:xfrm>
            <a:off x="769302" y="1817306"/>
            <a:ext cx="787209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/>
              <a:t>An Explainable Multi-Agent Framework for Patient-Centric Medical Report Understanding and Recommendation</a:t>
            </a:r>
            <a:endParaRPr sz="1700" b="1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43076"/>
              </p:ext>
            </p:extLst>
          </p:nvPr>
        </p:nvGraphicFramePr>
        <p:xfrm>
          <a:off x="779830" y="2327211"/>
          <a:ext cx="4764404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b="1">
                          <a:latin typeface="Arial"/>
                          <a:cs typeface="Arial"/>
                        </a:rPr>
                        <a:t>Team</a:t>
                      </a:r>
                      <a:r>
                        <a:rPr sz="1400" b="1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>
                          <a:latin typeface="Arial"/>
                          <a:cs typeface="Arial"/>
                        </a:rPr>
                        <a:t>Members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b="1">
                          <a:latin typeface="Arial"/>
                          <a:cs typeface="Arial"/>
                        </a:rPr>
                        <a:t>Roll</a:t>
                      </a:r>
                      <a:r>
                        <a:rPr sz="1400" b="1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>
                          <a:latin typeface="Arial"/>
                          <a:cs typeface="Arial"/>
                        </a:rPr>
                        <a:t>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dirty="0" err="1">
                          <a:latin typeface="Arial"/>
                          <a:cs typeface="Arial"/>
                        </a:rPr>
                        <a:t>Ch.Venkata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Lakshmi</a:t>
                      </a:r>
                      <a:r>
                        <a:rPr sz="1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Vardhan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AV.EN.U4AIE22006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Venkata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Chiranjeevi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Segu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spc="-10">
                          <a:latin typeface="Arial"/>
                          <a:cs typeface="Arial"/>
                        </a:rPr>
                        <a:t>AV.EN.U4AIE22036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10" dirty="0" err="1">
                          <a:latin typeface="Arial"/>
                          <a:cs typeface="Arial"/>
                        </a:rPr>
                        <a:t>A.</a:t>
                      </a:r>
                      <a:r>
                        <a:rPr lang="en-US" sz="1400" spc="-10" dirty="0" err="1">
                          <a:latin typeface="Arial"/>
                          <a:cs typeface="Arial"/>
                        </a:rPr>
                        <a:t>Venkata</a:t>
                      </a:r>
                      <a:r>
                        <a:rPr lang="en-US" sz="1400" spc="-10" dirty="0">
                          <a:latin typeface="Arial"/>
                          <a:cs typeface="Arial"/>
                        </a:rPr>
                        <a:t> Sai </a:t>
                      </a:r>
                      <a:r>
                        <a:rPr lang="en-US" sz="1400" spc="-10" dirty="0" err="1">
                          <a:latin typeface="Arial"/>
                          <a:cs typeface="Arial"/>
                        </a:rPr>
                        <a:t>Harshendra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AV.EN.U4AIE22059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67410" y="4137659"/>
            <a:ext cx="37915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Team</a:t>
            </a:r>
            <a:r>
              <a:rPr sz="1400" b="1" u="sng" spc="-15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Mentor</a:t>
            </a:r>
            <a:r>
              <a:rPr sz="1400" b="1" u="none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b="1" u="none">
                <a:solidFill>
                  <a:srgbClr val="585858"/>
                </a:solidFill>
                <a:latin typeface="Arial"/>
                <a:cs typeface="Arial"/>
              </a:rPr>
              <a:t>:</a:t>
            </a:r>
            <a:r>
              <a:rPr sz="1400" b="1" u="none" spc="-6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b="1" u="sng" spc="30"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Dr.</a:t>
            </a:r>
            <a:r>
              <a:rPr sz="1400" b="1" u="none" spc="-25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Sathya</a:t>
            </a:r>
            <a:r>
              <a:rPr sz="1400" b="1" u="none" spc="-65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Rajendra</a:t>
            </a:r>
            <a:r>
              <a:rPr sz="1400" b="1" u="none" spc="-60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Singh</a:t>
            </a:r>
            <a:r>
              <a:rPr sz="1400" b="1" u="none" spc="15">
                <a:latin typeface="Arial"/>
                <a:cs typeface="Arial"/>
              </a:rPr>
              <a:t> </a:t>
            </a:r>
            <a:r>
              <a:rPr sz="1400" b="1" u="none" spc="-25">
                <a:latin typeface="Arial"/>
                <a:cs typeface="Arial"/>
              </a:rPr>
              <a:t>.R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374" y="426177"/>
            <a:ext cx="7480850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 algn="l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About Our Previous Project &amp; Paper</a:t>
            </a:r>
            <a:endParaRPr u="none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17786EE-534A-C164-C261-8A0238AD9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821890"/>
            <a:ext cx="833913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Paper Title:</a:t>
            </a:r>
            <a:br>
              <a:rPr lang="en-US" sz="1400" dirty="0"/>
            </a:br>
            <a:r>
              <a:rPr lang="en-US" sz="1400" dirty="0"/>
              <a:t>Multi-Modal Few-Shot Anomaly Detection in Medical Imaging using Meta-Learning and Vision-Language Models</a:t>
            </a:r>
          </a:p>
          <a:p>
            <a:endParaRPr lang="en-US" sz="1400" dirty="0"/>
          </a:p>
          <a:p>
            <a:r>
              <a:rPr lang="en-US" sz="1400" b="1" dirty="0"/>
              <a:t>Conference:</a:t>
            </a:r>
            <a:br>
              <a:rPr lang="en-US" sz="1400" dirty="0"/>
            </a:br>
            <a:r>
              <a:rPr lang="en-US" sz="1400" dirty="0"/>
              <a:t>1st International Conference on Advanced Trends in Engineering and Emerging Technologies (ICATEET-2026)</a:t>
            </a:r>
          </a:p>
          <a:p>
            <a:endParaRPr lang="en-US" sz="1400" dirty="0"/>
          </a:p>
          <a:p>
            <a:r>
              <a:rPr lang="en-US" sz="1400" b="1" dirty="0"/>
              <a:t>Submission Status:</a:t>
            </a:r>
            <a:endParaRPr lang="en-US" sz="1400" dirty="0"/>
          </a:p>
          <a:p>
            <a:r>
              <a:rPr lang="en-US" sz="1400" dirty="0"/>
              <a:t>Article submitted during </a:t>
            </a:r>
            <a:r>
              <a:rPr lang="en-US" sz="1400" b="1" dirty="0"/>
              <a:t>previous academic semester</a:t>
            </a:r>
            <a:endParaRPr lang="en-US" sz="1400" dirty="0"/>
          </a:p>
          <a:p>
            <a:r>
              <a:rPr lang="en-US" sz="1400" dirty="0"/>
              <a:t>Underwent peer-review process</a:t>
            </a:r>
          </a:p>
          <a:p>
            <a:r>
              <a:rPr lang="en-US" sz="1400" b="1" dirty="0"/>
              <a:t>Accepted for presentation and We have gave presentation also &amp; Currently waiting for Approval.</a:t>
            </a:r>
          </a:p>
          <a:p>
            <a:endParaRPr lang="en-US" sz="1400" dirty="0"/>
          </a:p>
          <a:p>
            <a:r>
              <a:rPr lang="en-US" sz="1400" b="1" dirty="0"/>
              <a:t>Evidence Provided:</a:t>
            </a:r>
            <a:endParaRPr lang="en-US" sz="1400" dirty="0"/>
          </a:p>
          <a:p>
            <a:r>
              <a:rPr lang="en-US" sz="1400" dirty="0"/>
              <a:t>Official confirmation email from conference organizers(In below Page)</a:t>
            </a:r>
          </a:p>
          <a:p>
            <a:r>
              <a:rPr lang="en-US" sz="1400" dirty="0"/>
              <a:t>Paper ID (AI-041)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4106-7E81-E8AD-03FC-156DE11B4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2A5700-01A1-450A-0E98-DD023BD8C4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74" y="426177"/>
            <a:ext cx="7480850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 algn="l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About Our Previous Project &amp; Paper</a:t>
            </a:r>
            <a:endParaRPr u="none"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43075BA-FCFE-226C-463F-EE7A283E1D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0C116F-46B5-C5D9-2E95-9416E379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9" y="889414"/>
            <a:ext cx="7959436" cy="3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0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28B3-0190-9479-D524-94E0F3AC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49781B-53CE-5C92-7AEF-547BE4F4D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>
              <a:lnSpc>
                <a:spcPct val="100000"/>
              </a:lnSpc>
              <a:spcBef>
                <a:spcPts val="125"/>
              </a:spcBef>
            </a:pPr>
            <a:r>
              <a:rPr lang="en-IN" u="none"/>
              <a:t>The Problem &amp; Our Solution</a:t>
            </a:r>
            <a:endParaRPr u="none" spc="-1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8179A39-CFAE-4A2D-EAB8-23FDA8CD04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715E019-E58A-BC62-92C5-E31819B69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1791385"/>
            <a:ext cx="833913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Patients receive medical reports that are difficult to understand due to complex terminology and lack of clear, patient-focused explanations.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Goal: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To enable patients to understand their medical reports clearly and safely before consulting a healthcare professional.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Solution: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An explainable </a:t>
            </a:r>
            <a:r>
              <a:rPr lang="en-US" sz="1400" b="1" dirty="0"/>
              <a:t>multi-agent AI system </a:t>
            </a:r>
            <a:r>
              <a:rPr lang="en-US" sz="1400" dirty="0"/>
              <a:t>that analyzes real medical reports and provides patient-centric disease explanations with justified, non-diagnostic recommendations.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6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B051-E707-06CB-8E4C-B7CF8F2C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5BCF02-0030-97AB-F751-AFC430F8C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6291" y="9525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1FC2166-015F-6ABD-D5C9-3A50910A53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3AC961A-161E-01F5-4F65-C7DBD6E78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6097" y="765662"/>
            <a:ext cx="8678573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reports are primarily written for clinicians and often contain complex terminology that limits patient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AI approaches mainly focus on summarization and do not guarantee meaningful patient comprehension.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Summarization ≠ Understanding</a:t>
            </a:r>
            <a:br>
              <a:rPr lang="en-US" sz="1600" dirty="0"/>
            </a:br>
            <a:r>
              <a:rPr lang="en-US" sz="1600" dirty="0"/>
              <a:t>There is no system that explicitly models </a:t>
            </a:r>
            <a:r>
              <a:rPr lang="en-US" sz="1600" i="1" dirty="0"/>
              <a:t>disease explanation</a:t>
            </a:r>
            <a:r>
              <a:rPr lang="en-US" sz="1600" dirty="0"/>
              <a:t> and </a:t>
            </a:r>
            <a:r>
              <a:rPr lang="en-US" sz="1600" i="1" dirty="0"/>
              <a:t>patient-safe recommendations</a:t>
            </a:r>
            <a:r>
              <a:rPr lang="en-US" sz="1600" dirty="0"/>
              <a:t> using a structured, explainable, and verifiable AI framework.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Single-model systems lack transparency and fail to separate explanation, reasoning, and recommendation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Patient-centric healthcare requires interpretable, safe, and trustworthy AI systems that support—not replace—doctors.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proposes an explainable multi-agent AI framework to transform medical reports into clear disease explanations and justified recommendations for patients.</a:t>
            </a:r>
          </a:p>
        </p:txBody>
      </p:sp>
    </p:spTree>
    <p:extLst>
      <p:ext uri="{BB962C8B-B14F-4D97-AF65-F5344CB8AC3E}">
        <p14:creationId xmlns:p14="http://schemas.microsoft.com/office/powerpoint/2010/main" val="26367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09885-DC04-0BFE-EB58-0C22002A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BEB970-421C-185F-F42E-74A135F10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81185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IN" sz="2000" u="none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</a:rPr>
              <a:t>Datasets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60C5F28-3A81-15A8-3E83-69FB5723AA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4E51F9-8FE1-9D32-6C3C-1DA7674A6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556239"/>
              </p:ext>
            </p:extLst>
          </p:nvPr>
        </p:nvGraphicFramePr>
        <p:xfrm>
          <a:off x="342898" y="1449344"/>
          <a:ext cx="8458201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54136285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982164496"/>
                    </a:ext>
                  </a:extLst>
                </a:gridCol>
                <a:gridCol w="3276601">
                  <a:extLst>
                    <a:ext uri="{9D8B030D-6E8A-4147-A177-3AD203B41FA5}">
                      <a16:colId xmlns:a16="http://schemas.microsoft.com/office/drawing/2014/main" val="3123022364"/>
                    </a:ext>
                  </a:extLst>
                </a:gridCol>
              </a:tblGrid>
              <a:tr h="294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IN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Modality / Content</a:t>
                      </a:r>
                      <a:endParaRPr lang="en-IN" sz="1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Purpose in Project</a:t>
                      </a:r>
                      <a:endParaRPr lang="en-IN" sz="1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542324"/>
                  </a:ext>
                </a:extLst>
              </a:tr>
              <a:tr h="515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MIMIC-III (public, de-identified clinical dataset from PhysioNet).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Textual clinical data, primarily discharge summaries and related medical notes.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• Used as real-world input to evaluate the system’s ability to explain medical reports and generate safe, justified recommendations for patients.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1255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820133-3735-7993-70FA-E555708901CD}"/>
              </a:ext>
            </a:extLst>
          </p:cNvPr>
          <p:cNvSpPr txBox="1"/>
          <p:nvPr/>
        </p:nvSpPr>
        <p:spPr>
          <a:xfrm>
            <a:off x="714374" y="2918460"/>
            <a:ext cx="5846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MIMIC-III Discharge Summaries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 real cases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ICD diagnosis context integrated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04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7987-C5F9-A3DD-D82F-521FA0A1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21CA5F-E8C9-8592-C599-2BF12B4F4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35018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US" u="none" dirty="0" err="1"/>
              <a:t>Cuurent</a:t>
            </a:r>
            <a:r>
              <a:rPr lang="en-US" u="none" dirty="0"/>
              <a:t> Status of Paper</a:t>
            </a:r>
            <a:r>
              <a:rPr lang="en-US" b="0" dirty="0"/>
              <a:t>​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8A1F052-887C-C954-313E-C12DB8E0E7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pic>
        <p:nvPicPr>
          <p:cNvPr id="2050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1D03EC7-7AA6-1D04-A2FD-764C5179E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46" y="753648"/>
            <a:ext cx="7841672" cy="335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17A194-B4D8-EA8C-8288-735538A3DADD}"/>
              </a:ext>
            </a:extLst>
          </p:cNvPr>
          <p:cNvSpPr txBox="1"/>
          <p:nvPr/>
        </p:nvSpPr>
        <p:spPr>
          <a:xfrm>
            <a:off x="526472" y="4199227"/>
            <a:ext cx="5908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https://drive.google.com/file/d/1era1AFO4LZJbRnPwYR7FepaF9u69FSI0/view?usp=sharing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11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DA5D-4666-7CE5-AD54-8E854147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F4DFDB2-0CD5-B5A2-5BD7-ED7E2E5C6A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pic>
        <p:nvPicPr>
          <p:cNvPr id="5" name="Picture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67A1C1AC-ED1A-ABED-7A81-BE44619B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96" y="714682"/>
            <a:ext cx="8400269" cy="410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97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E14ED-B680-51F7-731B-506A9974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EA65AA-BBED-D8DE-DEEE-10BA1A7AB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81185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IN" sz="2000" u="none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</a:rPr>
              <a:t>Literature Survey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A50E5C4-9034-64FA-6351-62EB17C4DB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2F360D-54F5-3019-1DB4-78C7C9B2B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2854"/>
              </p:ext>
            </p:extLst>
          </p:nvPr>
        </p:nvGraphicFramePr>
        <p:xfrm>
          <a:off x="297873" y="1031586"/>
          <a:ext cx="8721435" cy="341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995">
                  <a:extLst>
                    <a:ext uri="{9D8B030D-6E8A-4147-A177-3AD203B41FA5}">
                      <a16:colId xmlns:a16="http://schemas.microsoft.com/office/drawing/2014/main" val="1020824496"/>
                    </a:ext>
                  </a:extLst>
                </a:gridCol>
                <a:gridCol w="1248296">
                  <a:extLst>
                    <a:ext uri="{9D8B030D-6E8A-4147-A177-3AD203B41FA5}">
                      <a16:colId xmlns:a16="http://schemas.microsoft.com/office/drawing/2014/main" val="1267332008"/>
                    </a:ext>
                  </a:extLst>
                </a:gridCol>
                <a:gridCol w="2226424">
                  <a:extLst>
                    <a:ext uri="{9D8B030D-6E8A-4147-A177-3AD203B41FA5}">
                      <a16:colId xmlns:a16="http://schemas.microsoft.com/office/drawing/2014/main" val="408608016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40136535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037126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Research Gap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51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Summarizing Medical Documents with Pretrained Transformers</a:t>
                      </a:r>
                      <a:r>
                        <a:rPr lang="en-US" sz="1200" dirty="0"/>
                        <a:t> (EMNLP 2020)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Transformer-based abstractive summarization for clinical notes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Improved clinical summarization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Focus only on summarization; no risk modeling, no patient-safe recommendation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730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dirty="0" err="1"/>
                        <a:t>BioClinicalBERT</a:t>
                      </a:r>
                      <a:r>
                        <a:rPr lang="en-IN" sz="1400" b="1" dirty="0"/>
                        <a:t>: Clinical Language Model Pretrained on MIMIC-III</a:t>
                      </a:r>
                      <a:r>
                        <a:rPr lang="en-IN" sz="1400" dirty="0"/>
                        <a:t>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Alsentzer</a:t>
                      </a:r>
                      <a:r>
                        <a:rPr lang="en-IN" sz="1400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BERT pretrained on MIMIC-III clinical notes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Strong performance on clinical classification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patient explanation; no reasoning layer; not generative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85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err="1"/>
                        <a:t>ClinicalBERT</a:t>
                      </a:r>
                      <a:r>
                        <a:rPr lang="en-IN" sz="1400" b="1" dirty="0"/>
                        <a:t> for ICD Code Prediction</a:t>
                      </a:r>
                      <a:r>
                        <a:rPr lang="en-IN" sz="1400" dirty="0"/>
                        <a:t> (ACL Clinical NLP 2019)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Huang et al.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Fine-tuned BERT for ICD multi-label classification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Improved readability scores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 explainability; no safety validation; purely predictive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06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16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630F-2EE9-D630-CB0A-FF8DC2DD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99C1CA-5A98-05F5-0044-E4A7832F2C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81185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IN" sz="2000" u="none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</a:rPr>
              <a:t>Literature Survey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530011C-FA4B-18B6-EBA1-CD1F38C588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B77CB6-0C96-DCF3-A462-71701F003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392653"/>
              </p:ext>
            </p:extLst>
          </p:nvPr>
        </p:nvGraphicFramePr>
        <p:xfrm>
          <a:off x="484908" y="1177925"/>
          <a:ext cx="8527475" cy="28365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705495">
                  <a:extLst>
                    <a:ext uri="{9D8B030D-6E8A-4147-A177-3AD203B41FA5}">
                      <a16:colId xmlns:a16="http://schemas.microsoft.com/office/drawing/2014/main" val="3633860789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4122122694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4252077536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1861960149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2655571174"/>
                    </a:ext>
                  </a:extLst>
                </a:gridCol>
              </a:tblGrid>
              <a:tr h="586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Large Language Models Encode Clinical Knowledge</a:t>
                      </a:r>
                      <a:r>
                        <a:rPr lang="en-US" sz="1400" dirty="0"/>
                        <a:t> (Nature 2023, Med-</a:t>
                      </a:r>
                      <a:r>
                        <a:rPr lang="en-US" sz="1400" dirty="0" err="1"/>
                        <a:t>PaLM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Singhal et al.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Instruction-tuned LLM for medical QA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 clinical QA performance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Monolithic model; lacks structured guardrails; no modular safety verification</a:t>
                      </a:r>
                    </a:p>
                  </a:txBody>
                  <a:tcPr marL="20963" marR="20963" marT="10482" marB="10482" anchor="ctr"/>
                </a:tc>
                <a:extLst>
                  <a:ext uri="{0D108BD9-81ED-4DB2-BD59-A6C34878D82A}">
                    <a16:rowId xmlns:a16="http://schemas.microsoft.com/office/drawing/2014/main" val="3714880063"/>
                  </a:ext>
                </a:extLst>
              </a:tr>
              <a:tr h="46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Multiagent AI Systems in Health Care</a:t>
                      </a:r>
                      <a:r>
                        <a:rPr lang="en-US" sz="1400"/>
                        <a:t> (NIH, 2024)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Borkowski &amp; Ben-Ari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Conceptual multi-agent healthcare framework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Describes future architecture possibilities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Conceptual only; no real implementation; no patient readability evaluation</a:t>
                      </a:r>
                    </a:p>
                  </a:txBody>
                  <a:tcPr marL="20963" marR="20963" marT="10482" marB="10482" anchor="ctr"/>
                </a:tc>
                <a:extLst>
                  <a:ext uri="{0D108BD9-81ED-4DB2-BD59-A6C34878D82A}">
                    <a16:rowId xmlns:a16="http://schemas.microsoft.com/office/drawing/2014/main" val="1158216300"/>
                  </a:ext>
                </a:extLst>
              </a:tr>
              <a:tr h="586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Simplifying Clinical Text for Patients</a:t>
                      </a:r>
                      <a:r>
                        <a:rPr lang="en-US" sz="1400"/>
                        <a:t> (NAACL 2021)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Devaraj et al.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Text simplification for patient readability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Improved readability scores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Simplification ≠ structured reasoning; no risk modeling; no recommendation layer</a:t>
                      </a:r>
                    </a:p>
                  </a:txBody>
                  <a:tcPr marL="20963" marR="20963" marT="10482" marB="10482" anchor="ctr"/>
                </a:tc>
                <a:extLst>
                  <a:ext uri="{0D108BD9-81ED-4DB2-BD59-A6C34878D82A}">
                    <a16:rowId xmlns:a16="http://schemas.microsoft.com/office/drawing/2014/main" val="4281691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686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6070-59EE-B975-A103-7F03FC28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74C916-8537-D35C-377B-65F615B16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u="none" dirty="0"/>
              <a:t>Key Novel Contributions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93FB030-CA2D-FBAE-898E-C1274C3B56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808D63E-9774-F20E-BC10-87C7C9145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1652887"/>
            <a:ext cx="833913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Disease explanation as a first-class output, not an afterthought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Separation of explanation and recommendation reasoning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Justification and limitation-aware recommendations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Ethical, dataset-driven deployment using real clinical data</a:t>
            </a:r>
            <a:br>
              <a:rPr lang="en-US" sz="1800" dirty="0"/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566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7155-AC24-029E-4B15-C12B00B9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FFEE85-B846-4052-D00D-3599E2840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IN" u="none" dirty="0"/>
              <a:t>Proposed Solution</a:t>
            </a:r>
            <a:endParaRPr lang="en-US" u="none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C187D1-71EB-47AD-9837-29D44783AD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267D3C5-5758-D5A3-EE2B-7C57B8263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4" y="1784065"/>
            <a:ext cx="83391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Hybrid Multi-Agent System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Clinical grounding (</a:t>
            </a:r>
            <a:r>
              <a:rPr lang="en-US" sz="1800" dirty="0" err="1"/>
              <a:t>BioClinicalBERT</a:t>
            </a:r>
            <a:r>
              <a:rPr lang="en-US" sz="1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Structured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Instruction-controlled reasoning (FLAN-T5)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Safety verification layer</a:t>
            </a:r>
            <a:br>
              <a:rPr lang="en-US" sz="1800" dirty="0"/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673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8CE1-CB57-33BD-C886-A5CAEC67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82" y="416668"/>
            <a:ext cx="5591809" cy="369332"/>
          </a:xfrm>
        </p:spPr>
        <p:txBody>
          <a:bodyPr/>
          <a:lstStyle/>
          <a:p>
            <a:r>
              <a:rPr lang="en-US" sz="2400" u="none" dirty="0"/>
              <a:t>Architecture Diagram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E32FB-5365-72B2-03FD-CD4A2977D7A7}"/>
              </a:ext>
            </a:extLst>
          </p:cNvPr>
          <p:cNvSpPr txBox="1"/>
          <p:nvPr/>
        </p:nvSpPr>
        <p:spPr>
          <a:xfrm>
            <a:off x="69032" y="959671"/>
            <a:ext cx="32304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Raw Report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BioClinicalBERT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Classification Head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Risk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Explainability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Recommendation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Justification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Verification Agent</a:t>
            </a:r>
          </a:p>
        </p:txBody>
      </p:sp>
      <p:pic>
        <p:nvPicPr>
          <p:cNvPr id="7" name="Picture 6" descr="A screenshot of a diagram&#10;&#10;AI-generated content may be incorrect.">
            <a:extLst>
              <a:ext uri="{FF2B5EF4-FFF2-40B4-BE49-F238E27FC236}">
                <a16:creationId xmlns:a16="http://schemas.microsoft.com/office/drawing/2014/main" id="{10A5D2F4-213D-B5D2-E8D1-C99FB171D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023" y="511535"/>
            <a:ext cx="5238633" cy="4633101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196B5AA5-F0C2-6EDA-237E-4107463966B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5" y="-7283"/>
            <a:ext cx="656103" cy="79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07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1518-8EAF-FA7A-3386-AE7DC96E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F9529E-369E-0713-6F5D-D007102CC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Process Flow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F1DFB9D-C03F-0DA5-922C-43DB664891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8B479C2-97B8-B997-C658-66449B084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3851" y="863590"/>
            <a:ext cx="833913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Clinical Classification Layer (</a:t>
            </a:r>
            <a:r>
              <a:rPr lang="en-IN" sz="1800" b="1" dirty="0" err="1"/>
              <a:t>BioClinicalBERT</a:t>
            </a:r>
            <a:r>
              <a:rPr lang="en-IN" sz="1800" b="1" dirty="0"/>
              <a:t>)</a:t>
            </a:r>
          </a:p>
          <a:p>
            <a:endParaRPr lang="en-IN" sz="1800" b="1" dirty="0"/>
          </a:p>
          <a:p>
            <a:r>
              <a:rPr lang="en-IN" sz="1800" b="1" dirty="0"/>
              <a:t>Model:</a:t>
            </a:r>
            <a:r>
              <a:rPr lang="en-IN" sz="1800" dirty="0"/>
              <a:t> </a:t>
            </a:r>
            <a:r>
              <a:rPr lang="en-IN" sz="1800" dirty="0" err="1"/>
              <a:t>BioClinicalBERT</a:t>
            </a:r>
            <a:r>
              <a:rPr lang="en-IN" sz="1800" dirty="0"/>
              <a:t> (MIMIC-III trained)</a:t>
            </a:r>
          </a:p>
          <a:p>
            <a:r>
              <a:rPr lang="en-IN" sz="1800" b="1" dirty="0"/>
              <a:t>Process:</a:t>
            </a:r>
          </a:p>
          <a:p>
            <a:r>
              <a:rPr lang="en-IN" sz="1800" dirty="0"/>
              <a:t>Discharge Summary → Tokenization</a:t>
            </a:r>
          </a:p>
          <a:p>
            <a:r>
              <a:rPr lang="en-IN" sz="1800" dirty="0"/>
              <a:t>CLS embedding extraction (768-dim representation)</a:t>
            </a:r>
          </a:p>
          <a:p>
            <a:r>
              <a:rPr lang="en-IN" sz="1800" dirty="0"/>
              <a:t>Linear Classification Head</a:t>
            </a:r>
          </a:p>
          <a:p>
            <a:r>
              <a:rPr lang="en-IN" sz="1800" dirty="0" err="1"/>
              <a:t>Softmax</a:t>
            </a:r>
            <a:r>
              <a:rPr lang="en-IN" sz="1800" dirty="0"/>
              <a:t> Output → Disease Category</a:t>
            </a:r>
          </a:p>
          <a:p>
            <a:r>
              <a:rPr lang="en-IN" sz="1800" b="1" dirty="0"/>
              <a:t>Categories:</a:t>
            </a:r>
          </a:p>
          <a:p>
            <a:r>
              <a:rPr lang="en-IN" sz="1800" dirty="0"/>
              <a:t>Cardiovascular, Respiratory, Endocrine, Infectious, Neurological</a:t>
            </a:r>
          </a:p>
          <a:p>
            <a:r>
              <a:rPr lang="en-IN" sz="1800" b="1" dirty="0"/>
              <a:t>Purpose:</a:t>
            </a:r>
            <a:br>
              <a:rPr lang="en-IN" sz="1800" dirty="0"/>
            </a:br>
            <a:r>
              <a:rPr lang="en-IN" sz="1800" dirty="0"/>
              <a:t>Convert unstructured clinical text into structured disease signals.</a:t>
            </a:r>
          </a:p>
        </p:txBody>
      </p:sp>
    </p:spTree>
    <p:extLst>
      <p:ext uri="{BB962C8B-B14F-4D97-AF65-F5344CB8AC3E}">
        <p14:creationId xmlns:p14="http://schemas.microsoft.com/office/powerpoint/2010/main" val="255704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1E2F-5C42-6435-8DC3-288B4B19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1A128C-87F5-6916-D1CF-24F3D5809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Process Flow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7AACE3C-8B2F-059D-2075-70D45B5B1F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3D2F464-FEAA-BDCD-9458-4A3A7BBA9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3851" y="1002089"/>
            <a:ext cx="833913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Multi-Agent Reasoning Layer (FLAN-T5)</a:t>
            </a:r>
          </a:p>
          <a:p>
            <a:r>
              <a:rPr lang="en-IN" sz="1800" b="1" dirty="0"/>
              <a:t>Risk Agent</a:t>
            </a:r>
          </a:p>
          <a:p>
            <a:r>
              <a:rPr lang="en-IN" sz="1800" dirty="0"/>
              <a:t>Assigns Low / Medium / High risk with structured reasoning.</a:t>
            </a:r>
          </a:p>
          <a:p>
            <a:r>
              <a:rPr lang="en-IN" sz="1800" b="1" dirty="0"/>
              <a:t>Explainability Agent</a:t>
            </a:r>
          </a:p>
          <a:p>
            <a:r>
              <a:rPr lang="en-IN" sz="1800" dirty="0"/>
              <a:t>Translates clinical findings into simple patient-friendly language.</a:t>
            </a:r>
          </a:p>
          <a:p>
            <a:r>
              <a:rPr lang="en-IN" sz="1800" b="1" dirty="0"/>
              <a:t>Recommendation Agent</a:t>
            </a:r>
          </a:p>
          <a:p>
            <a:r>
              <a:rPr lang="en-IN" sz="1800" dirty="0"/>
              <a:t>Generates safe, non-diagnostic next steps.</a:t>
            </a:r>
          </a:p>
          <a:p>
            <a:r>
              <a:rPr lang="en-IN" sz="1800" b="1" dirty="0"/>
              <a:t>Justification Agent</a:t>
            </a:r>
          </a:p>
          <a:p>
            <a:r>
              <a:rPr lang="en-IN" sz="1800" dirty="0"/>
              <a:t>Explains rationale + confidence + limitations.</a:t>
            </a:r>
          </a:p>
          <a:p>
            <a:r>
              <a:rPr lang="en-IN" sz="1800" b="1" dirty="0"/>
              <a:t>Verification Agent</a:t>
            </a:r>
          </a:p>
          <a:p>
            <a:r>
              <a:rPr lang="en-IN" sz="1800" dirty="0"/>
              <a:t>Detects contradictions and unsafe outputs.</a:t>
            </a:r>
          </a:p>
        </p:txBody>
      </p:sp>
    </p:spTree>
    <p:extLst>
      <p:ext uri="{BB962C8B-B14F-4D97-AF65-F5344CB8AC3E}">
        <p14:creationId xmlns:p14="http://schemas.microsoft.com/office/powerpoint/2010/main" val="15807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C36B-E758-6661-68EE-5B987E19B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429BC1-89CB-8D1D-4DCA-45BD631D4A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Metrics We Use: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6BF5621-E7C0-BB47-71B7-D21E44955C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1694A70-675A-1594-F426-947AA2D77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1451" y="1082753"/>
            <a:ext cx="833913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Clinical Classification Performance</a:t>
            </a:r>
            <a:r>
              <a:rPr lang="en-IN" sz="1800" dirty="0"/>
              <a:t>(Model: </a:t>
            </a:r>
            <a:r>
              <a:rPr lang="en-IN" sz="1800" dirty="0" err="1"/>
              <a:t>BioClinicalBERT</a:t>
            </a:r>
            <a:r>
              <a:rPr lang="en-IN" sz="1800" dirty="0"/>
              <a:t> + Linear Head):</a:t>
            </a:r>
          </a:p>
          <a:p>
            <a:r>
              <a:rPr lang="en-US" sz="1800" dirty="0"/>
              <a:t>Precision, Recall, F1 Score</a:t>
            </a:r>
          </a:p>
          <a:p>
            <a:r>
              <a:rPr lang="en-US" sz="1800" b="1" dirty="0"/>
              <a:t>Purpose</a:t>
            </a:r>
            <a:r>
              <a:rPr lang="en-US" sz="1800" dirty="0"/>
              <a:t>: Measures disease category prediction accuracy.</a:t>
            </a:r>
          </a:p>
          <a:p>
            <a:endParaRPr lang="en-IN" sz="1800" dirty="0"/>
          </a:p>
          <a:p>
            <a:r>
              <a:rPr lang="en-IN" sz="1800" b="1" dirty="0"/>
              <a:t>Readability &amp; Summarization Quality</a:t>
            </a:r>
          </a:p>
          <a:p>
            <a:r>
              <a:rPr lang="en-IN" sz="1800" b="1" dirty="0"/>
              <a:t>Original FKGL, Agent FKGL, Length Reduction</a:t>
            </a:r>
          </a:p>
          <a:p>
            <a:r>
              <a:rPr lang="en-US" sz="1800" b="1" dirty="0"/>
              <a:t>Purpose: </a:t>
            </a:r>
            <a:r>
              <a:rPr lang="en-IN" sz="1800" dirty="0"/>
              <a:t>Shows improved patient readability without excessive compression.</a:t>
            </a:r>
          </a:p>
          <a:p>
            <a:br>
              <a:rPr lang="en-IN" sz="1800" dirty="0"/>
            </a:br>
            <a:r>
              <a:rPr lang="en-IN" sz="1800" b="1" dirty="0"/>
              <a:t> Information Preservation</a:t>
            </a:r>
          </a:p>
          <a:p>
            <a:r>
              <a:rPr lang="en-IN" sz="1800" b="1" dirty="0"/>
              <a:t>QA-Based Accuracy, Information Coverage</a:t>
            </a:r>
          </a:p>
          <a:p>
            <a:r>
              <a:rPr lang="en-US" sz="1800" b="1" dirty="0"/>
              <a:t>Purpose :</a:t>
            </a:r>
            <a:r>
              <a:rPr lang="en-IN" sz="1800" dirty="0"/>
              <a:t>Demonstrates preservation of key diagnoses and findings compared to baseline single-prompt system.</a:t>
            </a:r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767133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1172-902E-22BF-FB14-59C1587E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B0A0FA-B635-5328-6B23-73A4E66F2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r>
              <a:rPr lang="en-US" sz="2400" u="none" dirty="0"/>
              <a:t>Key Contributions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62009A9-6BA8-84D6-075C-475CFB5B35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E5DFECA9-C0ED-3FEF-9B14-25764027C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3831" y="1360169"/>
            <a:ext cx="833913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Hybrid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Domain-grounded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Multi-agent safety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Quantitative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Reproducible pipeline</a:t>
            </a:r>
          </a:p>
        </p:txBody>
      </p:sp>
    </p:spTree>
    <p:extLst>
      <p:ext uri="{BB962C8B-B14F-4D97-AF65-F5344CB8AC3E}">
        <p14:creationId xmlns:p14="http://schemas.microsoft.com/office/powerpoint/2010/main" val="1489157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42A5-D4B3-C407-836B-BB845130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2016B9-89E4-49B8-2477-3BB5DECE7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r>
              <a:rPr lang="en-US" sz="2400" u="none" dirty="0"/>
              <a:t>Conclusion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27C58D-4DDC-EA09-351E-5C36570EDE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2E99598-8A6B-B894-379C-830C57107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6691" y="936635"/>
            <a:ext cx="833913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Developed a </a:t>
            </a:r>
            <a:r>
              <a:rPr lang="en-US" sz="1800" b="1" dirty="0"/>
              <a:t>hybrid clinical–reasoning architecture</a:t>
            </a:r>
            <a:r>
              <a:rPr lang="en-US" sz="1800" dirty="0"/>
              <a:t> combining </a:t>
            </a:r>
            <a:r>
              <a:rPr lang="en-US" sz="1800" dirty="0" err="1"/>
              <a:t>BioClinicalBERT</a:t>
            </a:r>
            <a:r>
              <a:rPr lang="en-US" sz="1800" dirty="0"/>
              <a:t> and FLAN-T5.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Achieved </a:t>
            </a:r>
            <a:r>
              <a:rPr lang="en-US" sz="1800" b="1" dirty="0"/>
              <a:t>improved readability</a:t>
            </a:r>
            <a:r>
              <a:rPr lang="en-US" sz="1800" dirty="0"/>
              <a:t> of medical reports while preserving essential clinical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Generated </a:t>
            </a:r>
            <a:r>
              <a:rPr lang="en-US" sz="1800" b="1" dirty="0"/>
              <a:t>patient-safe, non-diagnostic recommendations</a:t>
            </a:r>
            <a:r>
              <a:rPr lang="en-US" sz="1800" dirty="0"/>
              <a:t> through structured guardrails.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Demonstrated </a:t>
            </a:r>
            <a:r>
              <a:rPr lang="en-US" sz="1800" b="1" dirty="0"/>
              <a:t>measurable clinical classification performance</a:t>
            </a:r>
            <a:r>
              <a:rPr lang="en-US" sz="1800" dirty="0"/>
              <a:t> using supervised evaluation (Precision / Recall / F1).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Designed a </a:t>
            </a:r>
            <a:r>
              <a:rPr lang="en-US" sz="1800" b="1" dirty="0"/>
              <a:t>modular and interpretable multi-agent framework</a:t>
            </a:r>
            <a:r>
              <a:rPr lang="en-US" sz="1800" dirty="0"/>
              <a:t> enabling safety validation and component-level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system bridges the gap between </a:t>
            </a:r>
            <a:r>
              <a:rPr lang="en-US" sz="1800" b="1" dirty="0"/>
              <a:t>clinical language complexity and patient understanding</a:t>
            </a:r>
            <a:r>
              <a:rPr lang="en-US" sz="1800" dirty="0"/>
              <a:t>, while maintaining safety and quantitative validation.</a:t>
            </a:r>
          </a:p>
        </p:txBody>
      </p:sp>
    </p:spTree>
    <p:extLst>
      <p:ext uri="{BB962C8B-B14F-4D97-AF65-F5344CB8AC3E}">
        <p14:creationId xmlns:p14="http://schemas.microsoft.com/office/powerpoint/2010/main" val="3027802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19436-07AB-C78A-FE08-D3772605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A2FCD6-CE5D-5FFF-E30C-DD5B664E49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/>
            <a:r>
              <a:rPr lang="en-US" sz="2400" u="none" dirty="0"/>
              <a:t>References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F6CE8BC-F911-F0F3-171D-B24DD1F1FD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F421FD2-8E79-D80B-3D40-B93A025C5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9763" y="915952"/>
            <a:ext cx="83391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hlinkClick r:id="rId3"/>
              </a:rPr>
              <a:t>https://aclanthology.org/2020.emnlp-main.449/</a:t>
            </a:r>
            <a:endParaRPr lang="en-US" sz="1800" dirty="0"/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4"/>
              </a:rPr>
              <a:t>https://arxiv.org/abs/1904.05342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hlinkClick r:id="rId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5"/>
              </a:rPr>
              <a:t>https://aclanthology.org/W19-1909/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6"/>
              </a:rPr>
              <a:t>https://www.nature.com/articles/s41586-023-06291-2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7"/>
              </a:rPr>
              <a:t>https://pmc.ncbi.nlm.nih.gov/articles/PMC12360800/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8"/>
              </a:rPr>
              <a:t>https://aclanthology.org/2021.naacl-main.371/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37562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745" y="1442085"/>
            <a:ext cx="24479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u="none"/>
              <a:t>THANK</a:t>
            </a:r>
            <a:r>
              <a:rPr sz="3200" u="none" spc="-110"/>
              <a:t> </a:t>
            </a:r>
            <a:r>
              <a:rPr sz="3200" u="none" spc="-25"/>
              <a:t>YOU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0"/>
            <a:ext cx="533399" cy="638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97AADBF1BA2548AAD0935313750DF7" ma:contentTypeVersion="10" ma:contentTypeDescription="Create a new document." ma:contentTypeScope="" ma:versionID="65feb42d6e9e9d44f6ed74e247022939">
  <xsd:schema xmlns:xsd="http://www.w3.org/2001/XMLSchema" xmlns:xs="http://www.w3.org/2001/XMLSchema" xmlns:p="http://schemas.microsoft.com/office/2006/metadata/properties" xmlns:ns3="3a1826d0-a633-4e7b-b963-b980b997b5c7" targetNamespace="http://schemas.microsoft.com/office/2006/metadata/properties" ma:root="true" ma:fieldsID="e4a88a26e4f238fafe385f09119dc6f4" ns3:_="">
    <xsd:import namespace="3a1826d0-a633-4e7b-b963-b980b997b5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1826d0-a633-4e7b-b963-b980b997b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1826d0-a633-4e7b-b963-b980b997b5c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9D8B8C-1D50-49D2-A472-CB6AA274BB15}">
  <ds:schemaRefs>
    <ds:schemaRef ds:uri="3a1826d0-a633-4e7b-b963-b980b997b5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9AA159D-2779-4753-9258-BCB2FC37F8D1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3a1826d0-a633-4e7b-b963-b980b997b5c7"/>
  </ds:schemaRefs>
</ds:datastoreItem>
</file>

<file path=customXml/itemProps3.xml><?xml version="1.0" encoding="utf-8"?>
<ds:datastoreItem xmlns:ds="http://schemas.openxmlformats.org/officeDocument/2006/customXml" ds:itemID="{F30B928A-FB19-4D06-A40D-5273C93107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1106</Words>
  <Application>Microsoft Office PowerPoint</Application>
  <PresentationFormat>On-screen Show (16:9)</PresentationFormat>
  <Paragraphs>175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Project Title :</vt:lpstr>
      <vt:lpstr>About Our Previous Project &amp; Paper</vt:lpstr>
      <vt:lpstr>About Our Previous Project &amp; Paper</vt:lpstr>
      <vt:lpstr>The Problem &amp; Our Solution</vt:lpstr>
      <vt:lpstr>Introduction</vt:lpstr>
      <vt:lpstr>Datasets</vt:lpstr>
      <vt:lpstr>Cuurent Status of Paper​</vt:lpstr>
      <vt:lpstr>PowerPoint Presentation</vt:lpstr>
      <vt:lpstr>Literature Survey</vt:lpstr>
      <vt:lpstr>Literature Survey</vt:lpstr>
      <vt:lpstr>Key Novel Contributions</vt:lpstr>
      <vt:lpstr>Proposed Solution</vt:lpstr>
      <vt:lpstr>Architecture Diagram</vt:lpstr>
      <vt:lpstr>Process Flow</vt:lpstr>
      <vt:lpstr>Process Flow</vt:lpstr>
      <vt:lpstr>Metrics We Use:</vt:lpstr>
      <vt:lpstr>Key Contributions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Segu Venkata Chiranjeevi</dc:creator>
  <cp:lastModifiedBy>Segu Venkata Chiranjeevi [AV.EN.U4AIE22036]</cp:lastModifiedBy>
  <cp:revision>51</cp:revision>
  <dcterms:created xsi:type="dcterms:W3CDTF">2025-08-28T19:39:22Z</dcterms:created>
  <dcterms:modified xsi:type="dcterms:W3CDTF">2026-02-27T20:16:02Z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2025-07-25T00:00:00Z</vt:filetime>
  </property>
  <property fmtid="{D5CDD505-2E9C-101B-9397-08002B2CF9AE}" pid="3" name="LastSaved">
    <vt:filetime>2025-08-28T00:00:00Z</vt:filetime>
  </property>
  <property fmtid="{D5CDD505-2E9C-101B-9397-08002B2CF9AE}" pid="4" name="ContentTypeId">
    <vt:lpwstr>0x010100DE97AADBF1BA2548AAD0935313750DF7</vt:lpwstr>
  </property>
</Properties>
</file>